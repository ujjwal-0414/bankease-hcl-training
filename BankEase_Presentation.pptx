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BankEase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05840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200" b="0">
                <a:solidFill>
                  <a:srgbClr val="DCE6F0"/>
                </a:solidFill>
                <a:latin typeface="Aptos"/>
              </a:rPr>
              <a:t>NextGen Net Banking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96012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CDDCEB"/>
                </a:solidFill>
                <a:latin typeface="Aptos"/>
              </a:rPr>
              <a:t>Full-Stack Academic Net-Banking Simulation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98755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BED2E1"/>
                </a:solidFill>
                <a:latin typeface="Aptos"/>
              </a:rPr>
              <a:t>Built with Angular • Spring Boot REST Architecture •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6217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IEEE STD 830-1998 ACADEMIC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0752"/>
            <a:ext cx="47548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B.Tech 3rd Year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87368"/>
            <a:ext cx="713232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D7E4F0"/>
                </a:solidFill>
                <a:latin typeface="Aptos"/>
              </a:rPr>
              <a:t>Ujjwal Upadhyay  |  Roll No. 2400320101205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07408"/>
            <a:ext cx="868680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CDDCEB"/>
                </a:solidFill>
                <a:latin typeface="Aptos"/>
              </a:rPr>
              <a:t>B.Tech CSE  |  ABES Engineering College, Ghaziabad  |  Academic Year 2026–2027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4315968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489704"/>
            <a:ext cx="1645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Full-Stack Web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Purpose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6400800" cy="3474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F3D"/>
                </a:solidFill>
                <a:latin typeface="Aptos"/>
              </a:defRPr>
            </a:pPr>
            <a:r>
              <a:t>• Provides authenticated customers with core personal banking workflows through secure APIs and responsive UI.</a:t>
            </a:r>
          </a:p>
          <a:p>
            <a:pPr>
              <a:spcAft>
                <a:spcPts val="1300"/>
              </a:spcAft>
              <a:defRPr sz="1600">
                <a:solidFill>
                  <a:srgbClr val="232F3D"/>
                </a:solidFill>
                <a:latin typeface="Aptos"/>
              </a:defRPr>
            </a:pPr>
            <a:r>
              <a:t>• Centralized banking simulation covering accounts, transfers, bills, loans and investments.</a:t>
            </a:r>
          </a:p>
          <a:p>
            <a:pPr>
              <a:spcAft>
                <a:spcPts val="1300"/>
              </a:spcAft>
              <a:defRPr sz="1600">
                <a:solidFill>
                  <a:srgbClr val="232F3D"/>
                </a:solidFill>
                <a:latin typeface="Aptos"/>
              </a:defRPr>
            </a:pPr>
            <a:r>
              <a:t>• Self-contained database simulation; no live payment gateway settlement, ATM processing, or external core-banking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34440"/>
            <a:ext cx="3566160" cy="18288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34440"/>
            <a:ext cx="82296" cy="1828800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7848" y="1453896"/>
            <a:ext cx="3063239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Main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1892808"/>
            <a:ext cx="3063239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20" b="0">
                <a:solidFill>
                  <a:srgbClr val="232F3D"/>
                </a:solidFill>
                <a:latin typeface="Aptos"/>
              </a:rPr>
              <a:t>Provide secure and consistent digital banking workflows through authenticated, validated and auditable REST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337560"/>
            <a:ext cx="3566160" cy="18288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337560"/>
            <a:ext cx="82296" cy="1828800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3557015"/>
            <a:ext cx="3063239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In-Scope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995928"/>
            <a:ext cx="3063239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JWT authentication</a:t>
            </a:r>
          </a:p>
          <a:p>
            <a:pPr>
              <a:spcAft>
                <a:spcPts val="5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Savings / current accounts</a:t>
            </a:r>
          </a:p>
          <a:p>
            <a:pPr>
              <a:spcAft>
                <a:spcPts val="5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IMPS / NEFT / RTGS transfers</a:t>
            </a:r>
          </a:p>
          <a:p>
            <a:pPr>
              <a:spcAft>
                <a:spcPts val="5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Bill payments, loans &amp; investment catalogs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2.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System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173736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1517904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350" b="0">
                <a:solidFill>
                  <a:srgbClr val="232F3D"/>
                </a:solidFill>
                <a:latin typeface="Aptos"/>
              </a:rPr>
              <a:t>Angular 20.3
TypeScript ~5.8 • RxJS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82112"/>
            <a:ext cx="17373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647382"/>
                </a:solidFill>
                <a:latin typeface="Aptos"/>
              </a:rPr>
              <a:t>Presentation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98448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719072"/>
            <a:ext cx="173736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901952"/>
            <a:ext cx="1517904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350" b="0">
                <a:solidFill>
                  <a:srgbClr val="232F3D"/>
                </a:solidFill>
                <a:latin typeface="Aptos"/>
              </a:rPr>
              <a:t>Java 21
Spring Boot 4.1.0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82112"/>
            <a:ext cx="17373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647382"/>
                </a:solidFill>
                <a:latin typeface="Aptos"/>
              </a:rPr>
              <a:t>Application API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298448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719072"/>
            <a:ext cx="173736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1901952"/>
            <a:ext cx="1517904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350" b="0">
                <a:solidFill>
                  <a:srgbClr val="232F3D"/>
                </a:solidFill>
                <a:latin typeface="Aptos"/>
              </a:rPr>
              <a:t>Spring Security
JWT • BCrypt •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82112"/>
            <a:ext cx="17373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647382"/>
                </a:solidFill>
                <a:latin typeface="Aptos"/>
              </a:rPr>
              <a:t>Cross-Cutting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298448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719072"/>
            <a:ext cx="173736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7" y="1901952"/>
            <a:ext cx="1517904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350" b="0">
                <a:solidFill>
                  <a:srgbClr val="232F3D"/>
                </a:solidFill>
                <a:latin typeface="Aptos"/>
              </a:rPr>
              <a:t>MySQL
Relational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182112"/>
            <a:ext cx="17373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647382"/>
                </a:solidFill>
                <a:latin typeface="Aptos"/>
              </a:rPr>
              <a:t>Persistence Tier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5196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389120"/>
            <a:ext cx="117957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73D5D"/>
                </a:solidFill>
                <a:latin typeface="Aptos"/>
              </a:rPr>
              <a:t>Angular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25196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4389120"/>
            <a:ext cx="117957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73D5D"/>
                </a:solidFill>
                <a:latin typeface="Aptos"/>
              </a:rPr>
              <a:t>REST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25196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4389120"/>
            <a:ext cx="117957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73D5D"/>
                </a:solidFill>
                <a:latin typeface="Aptos"/>
              </a:rPr>
              <a:t>Business Logic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25196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1" y="4389120"/>
            <a:ext cx="117957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73D5D"/>
                </a:solidFill>
                <a:latin typeface="Aptos"/>
              </a:rPr>
              <a:t>JPA / Hibernate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425196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4389120"/>
            <a:ext cx="117957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73D5D"/>
                </a:solidFill>
                <a:latin typeface="Aptos"/>
              </a:rPr>
              <a:t>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343400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3467A1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343400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3467A1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343400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3467A1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43400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3467A1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232F3D"/>
                </a:solidFill>
                <a:latin typeface="Aptos"/>
              </a:rPr>
              <a:t>Controller–Service–Repository pattern • DTO mappers • Spring Security • MySQL persistence • BCrypt password hashing • audit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3. Roles &amp;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82296" cy="2103120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62456"/>
            <a:ext cx="301752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3017520" cy="1298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Review user directory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Update customer KYC status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Enable / disable user accounts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Approve loans &amp; set interest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82296" cy="2103120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362456"/>
            <a:ext cx="301752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Registered 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01368"/>
            <a:ext cx="3017520" cy="1298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Create savings / current accounts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Manage active beneficiaries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Execute transfers &amp; pay bills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Apply for loans &amp; investments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82296" cy="2103120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62456"/>
            <a:ext cx="301752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Guest / Visitor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801368"/>
            <a:ext cx="3017520" cy="1298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Access public registration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Authenticate via login API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Browse public investment products</a:t>
            </a:r>
          </a:p>
          <a:p>
            <a:pPr>
              <a:spcAft>
                <a:spcPts val="500"/>
              </a:spcAft>
              <a:defRPr sz="1180">
                <a:solidFill>
                  <a:srgbClr val="232F3D"/>
                </a:solidFill>
                <a:latin typeface="Aptos"/>
              </a:defRPr>
            </a:pPr>
            <a:r>
              <a:t>• Restricted from banking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19202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14215"/>
            <a:ext cx="50292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70" b="0">
                <a:solidFill>
                  <a:srgbClr val="232F3D"/>
                </a:solidFill>
                <a:latin typeface="Aptos"/>
              </a:rPr>
              <a:t>Registration, secure login, JWT token management, RBAC and 401/403 handling.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03320"/>
            <a:ext cx="19202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Banking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14215"/>
            <a:ext cx="50292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70" b="0">
                <a:solidFill>
                  <a:srgbClr val="232F3D"/>
                </a:solidFill>
                <a:latin typeface="Aptos"/>
              </a:rPr>
              <a:t>Accounts, beneficiaries, IMPS/NEFT/RTGS transfers and bill payments.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9202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Wealth &amp; 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57216"/>
            <a:ext cx="50292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70" b="0">
                <a:solidFill>
                  <a:srgbClr val="232F3D"/>
                </a:solidFill>
                <a:latin typeface="Aptos"/>
              </a:rPr>
              <a:t>Loan processing and public investment product catalog.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46320"/>
            <a:ext cx="19202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Admin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157216"/>
            <a:ext cx="50292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70" b="0">
                <a:solidFill>
                  <a:srgbClr val="232F3D"/>
                </a:solidFill>
                <a:latin typeface="Aptos"/>
              </a:rPr>
              <a:t>KYC lifecycle, user controls, loan decisioning and audit visibility.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4. Security &amp; Session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Authentication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43891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25296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BCrypt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16152"/>
            <a:ext cx="7315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Validates unique email and 10-digit mobile pattern before encoding password.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50008"/>
            <a:ext cx="43891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31136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JWT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21992"/>
            <a:ext cx="7315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Issues signed HS256 Bearer JWT upon Spring Security authentication.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43891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36976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Route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27832"/>
            <a:ext cx="7315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Restricts administrative endpoints (/api/admin/**) strictly to ADMIN roles.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43891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42816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Audit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33672"/>
            <a:ext cx="7315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Persists success and failure events into AuditLog with global exception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5623560"/>
            <a:ext cx="2148840" cy="411480"/>
          </a:xfrm>
          <a:prstGeom prst="roundRect">
            <a:avLst>
              <a:gd name="adj" fmla="val 12000"/>
            </a:avLst>
          </a:prstGeom>
          <a:solidFill>
            <a:srgbClr val="37855B"/>
          </a:solidFill>
          <a:ln w="12700">
            <a:solidFill>
              <a:srgbClr val="37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5733288"/>
            <a:ext cx="18288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Stateless Bearer JWT + 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5. Banking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Fund Transfer Modes &amp;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840480"/>
                <a:gridCol w="512064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Transfer Mode</a:t>
                      </a:r>
                    </a:p>
                  </a:txBody>
                  <a:tcPr>
                    <a:solidFill>
                      <a:srgbClr val="17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Transaction Limits</a:t>
                      </a:r>
                    </a:p>
                  </a:txBody>
                  <a:tcPr>
                    <a:solidFill>
                      <a:srgbClr val="17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Prerequisite Rules</a:t>
                      </a:r>
                    </a:p>
                  </a:txBody>
                  <a:tcPr>
                    <a:solidFill>
                      <a:srgbClr val="173D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IMPS Mode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Capped at ₹5,00,000 per transaction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Active source account with sufficient balance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NEFT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Standard clearance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Active beneficiary with verified IFSC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RTGS Mode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Requires minimum ₹2,00,000 threshold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High-value real-time transfer validation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Daily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Max ₹2,00,000 cumulative transfer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F3D"/>
                          </a:solidFill>
                          <a:latin typeface="Aptos"/>
                        </a:rPr>
                        <a:t>Customer KYC status must be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60520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Validation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142232"/>
            <a:ext cx="8229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Non-verified KYC users or accounts with insufficient balances are automatically rejected by business validation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10744200" cy="10515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82296" cy="1051560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202936"/>
            <a:ext cx="10241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Transactional Data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641848"/>
            <a:ext cx="10241280" cy="2468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50" b="0">
                <a:solidFill>
                  <a:srgbClr val="232F3D"/>
                </a:solidFill>
                <a:latin typeface="Aptos"/>
              </a:rPr>
              <a:t>100% atomic balance update &amp; rollback guarantee: money-moving transfers, bill payments and investment redemptions run inside transactional boundaries with automatic exception rollbacks.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6. Wealth &amp; Credit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Loans &amp; Investment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49240" cy="42519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4251960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53896"/>
            <a:ext cx="484632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Loan Processing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92808"/>
            <a:ext cx="4846320" cy="34472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F3D"/>
                </a:solidFill>
                <a:latin typeface="Aptos"/>
              </a:defRPr>
            </a:pPr>
            <a:r>
              <a:t>• Loan categories: Personal, Home, Education, and Vehicle loans.</a:t>
            </a:r>
          </a:p>
          <a:p>
            <a:pPr>
              <a:spcAft>
                <a:spcPts val="500"/>
              </a:spcAft>
              <a:defRPr sz="1400">
                <a:solidFill>
                  <a:srgbClr val="232F3D"/>
                </a:solidFill>
                <a:latin typeface="Aptos"/>
              </a:defRPr>
            </a:pPr>
            <a:r>
              <a:t>• Application rules: minimum ₹10,000 threshold; tenure spanning 6–360 months.</a:t>
            </a:r>
          </a:p>
          <a:p>
            <a:pPr>
              <a:spcAft>
                <a:spcPts val="500"/>
              </a:spcAft>
              <a:defRPr sz="1400">
                <a:solidFill>
                  <a:srgbClr val="232F3D"/>
                </a:solidFill>
                <a:latin typeface="Aptos"/>
              </a:defRPr>
            </a:pPr>
            <a:r>
              <a:t>• Admin approval assigns interest rate and triggers backend EMI calculation.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49240" cy="42519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82296" cy="4251960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53896"/>
            <a:ext cx="484632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Investment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92808"/>
            <a:ext cx="4846320" cy="34472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F3D"/>
                </a:solidFill>
                <a:latin typeface="Aptos"/>
              </a:defRPr>
            </a:pPr>
            <a:r>
              <a:t>• Public catalog: Fixed Deposits, Mutual Funds, and Bonds.</a:t>
            </a:r>
          </a:p>
          <a:p>
            <a:pPr>
              <a:spcAft>
                <a:spcPts val="500"/>
              </a:spcAft>
              <a:defRPr sz="1400">
                <a:solidFill>
                  <a:srgbClr val="232F3D"/>
                </a:solidFill>
                <a:latin typeface="Aptos"/>
              </a:defRPr>
            </a:pPr>
            <a:r>
              <a:t>• Purchase validates minimum investment, active status, and account balance.</a:t>
            </a:r>
          </a:p>
          <a:p>
            <a:pPr>
              <a:spcAft>
                <a:spcPts val="500"/>
              </a:spcAft>
              <a:defRPr sz="1400">
                <a:solidFill>
                  <a:srgbClr val="232F3D"/>
                </a:solidFill>
                <a:latin typeface="Aptos"/>
              </a:defRPr>
            </a:pPr>
            <a:r>
              <a:t>• Redemption credits current value directly back to the original funding account.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42432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50" b="0">
                <a:solidFill>
                  <a:srgbClr val="647382"/>
                </a:solidFill>
                <a:latin typeface="Aptos"/>
              </a:rPr>
              <a:t>Business validation + transactional persistence keep credit and investment operations consistent with account balances.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7. Administration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Governance + NFRs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02920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73D5D"/>
                </a:solidFill>
                <a:latin typeface="Aptos"/>
              </a:rPr>
              <a:t>Admin Control &amp; KYC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8229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581912"/>
            <a:ext cx="24688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KYC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554480"/>
            <a:ext cx="32461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30" b="0">
                <a:solidFill>
                  <a:srgbClr val="232F3D"/>
                </a:solidFill>
                <a:latin typeface="Aptos"/>
              </a:rPr>
              <a:t>Reviews profiles and updates status: PENDING, VERIFIED, or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8229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633472"/>
            <a:ext cx="24688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User Toggle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06040"/>
            <a:ext cx="32461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30" b="0">
                <a:solidFill>
                  <a:srgbClr val="232F3D"/>
                </a:solidFill>
                <a:latin typeface="Aptos"/>
              </a:rPr>
              <a:t>Enables or disables user account access instantly via administrative REST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03320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3467A1"/>
          </a:solidFill>
          <a:ln w="12700">
            <a:solidFill>
              <a:srgbClr val="346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59"/>
            <a:ext cx="8229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685032"/>
            <a:ext cx="24688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Loan Decisioning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657600"/>
            <a:ext cx="32461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30" b="0">
                <a:solidFill>
                  <a:srgbClr val="232F3D"/>
                </a:solidFill>
                <a:latin typeface="Aptos"/>
              </a:rPr>
              <a:t>Inspects pending loan queue, sets approved interest rate, or issues rejection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097280"/>
            <a:ext cx="3749039" cy="47091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353312"/>
            <a:ext cx="310896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73D5D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874519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3467A1"/>
                </a:solidFill>
                <a:latin typeface="Aptos"/>
              </a:rPr>
              <a:t>Security &amp; Encryption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48839"/>
            <a:ext cx="2971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40" b="0">
                <a:solidFill>
                  <a:srgbClr val="232F3D"/>
                </a:solidFill>
                <a:latin typeface="Aptos"/>
              </a:rPr>
              <a:t>BCrypt password encoding, stateless Bearer JWT, strict RBAC authorization guards.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88920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37855B"/>
                </a:solidFill>
                <a:latin typeface="Aptos"/>
              </a:rPr>
              <a:t>Reliability &amp; 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063239"/>
            <a:ext cx="2971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40" b="0">
                <a:solidFill>
                  <a:srgbClr val="232F3D"/>
                </a:solidFill>
                <a:latin typeface="Aptos"/>
              </a:rPr>
              <a:t>Transactional database rollback boundaries with persistent event audit logs.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703320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3467A1"/>
                </a:solidFill>
                <a:latin typeface="Aptos"/>
              </a:rPr>
              <a:t>Maintainability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977639"/>
            <a:ext cx="2971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40" b="0">
                <a:solidFill>
                  <a:srgbClr val="232F3D"/>
                </a:solidFill>
                <a:latin typeface="Aptos"/>
              </a:rPr>
              <a:t>Decoupled Controller-Service-Repository architecture using DTO mappers.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617720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37855B"/>
                </a:solidFill>
                <a:latin typeface="Aptos"/>
              </a:rPr>
              <a:t>Usability &amp; Portability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92040"/>
            <a:ext cx="2971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40" b="0">
                <a:solidFill>
                  <a:srgbClr val="232F3D"/>
                </a:solidFill>
                <a:latin typeface="Aptos"/>
              </a:rPr>
              <a:t>Responsive Angular SPA interfaces on standard browsers with Java 21 / MySQL backend.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8. System Analysis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UML Graphical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187451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1874519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53896"/>
            <a:ext cx="48006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Use Case Diagram (Figure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92808"/>
            <a:ext cx="4800600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50" b="0">
                <a:solidFill>
                  <a:srgbClr val="232F3D"/>
                </a:solidFill>
                <a:latin typeface="Aptos"/>
              </a:rPr>
              <a:t>Maps Guest, Customer, and Administrator actors to core platform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303520" cy="187451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82296" cy="1874519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453896"/>
            <a:ext cx="48006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Context Diagram (Figure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892808"/>
            <a:ext cx="4800600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50" b="0">
                <a:solidFill>
                  <a:srgbClr val="232F3D"/>
                </a:solidFill>
                <a:latin typeface="Aptos"/>
              </a:rPr>
              <a:t>Illustrates Level-0 Angular client REST communication with Spring Boot and MySQL.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303520" cy="187451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82296" cy="1874519"/>
          </a:xfrm>
          <a:prstGeom prst="rect">
            <a:avLst/>
          </a:prstGeom>
          <a:solidFill>
            <a:srgbClr val="34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785615"/>
            <a:ext cx="48006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Entity-Relationship Model (Figure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224528"/>
            <a:ext cx="4800600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50" b="0">
                <a:solidFill>
                  <a:srgbClr val="232F3D"/>
                </a:solidFill>
                <a:latin typeface="Aptos"/>
              </a:rPr>
              <a:t>Crow’s Foot model defining User, Role, BankAccount, Beneficiary, Transfer, and AuditLog.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66160"/>
            <a:ext cx="5303520" cy="187451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82296" cy="1874519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785615"/>
            <a:ext cx="48006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Sequence Diagram (Figure 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224528"/>
            <a:ext cx="4800600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50" b="0">
                <a:solidFill>
                  <a:srgbClr val="232F3D"/>
                </a:solidFill>
                <a:latin typeface="Aptos"/>
              </a:rPr>
              <a:t>Chronological flow for fund transfer execution from UI through API to DB.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3D5D"/>
                </a:solidFill>
                <a:latin typeface="Aptos"/>
              </a:rPr>
              <a:t>Core relationship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650992"/>
            <a:ext cx="84124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50" b="0">
                <a:solidFill>
                  <a:srgbClr val="232F3D"/>
                </a:solidFill>
                <a:latin typeface="Aptos"/>
              </a:rPr>
              <a:t>Role → User → BankAccount → Beneficiary / Transfer → AuditLog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961120" cy="3931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9. Testing, Review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14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50" b="0">
                <a:solidFill>
                  <a:srgbClr val="DCE6F0"/>
                </a:solidFill>
                <a:latin typeface="Aptos"/>
              </a:rPr>
              <a:t>Acceptance + Academic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02920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73D5D"/>
                </a:solidFill>
                <a:latin typeface="Aptos"/>
              </a:rPr>
              <a:t>What the system validates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486400" cy="3291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Valid registration and login return an authenticated user/JWT.</a:t>
            </a:r>
          </a:p>
          <a:p>
            <a:pPr>
              <a:spcAft>
                <a:spcPts val="8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Transfer validation rejects non-verified KYC users and insufficient balances.</a:t>
            </a:r>
          </a:p>
          <a:p>
            <a:pPr>
              <a:spcAft>
                <a:spcPts val="8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Admin endpoints enforce role-based access; protected banking APIs require authentication.</a:t>
            </a:r>
          </a:p>
          <a:p>
            <a:pPr>
              <a:spcAft>
                <a:spcPts val="8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Transactional operations roll back on exceptions and persist audit events.</a:t>
            </a:r>
          </a:p>
          <a:p>
            <a:pPr>
              <a:spcAft>
                <a:spcPts val="800"/>
              </a:spcAft>
              <a:defRPr sz="1250">
                <a:solidFill>
                  <a:srgbClr val="232F3D"/>
                </a:solidFill>
                <a:latin typeface="Aptos"/>
              </a:defRPr>
            </a:pPr>
            <a:r>
              <a:t>• Loan, investment and bill-payment workflows apply their defined business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4983480" cy="20116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82296" cy="2011680"/>
          </a:xfrm>
          <a:prstGeom prst="rect">
            <a:avLst/>
          </a:prstGeom>
          <a:solidFill>
            <a:srgbClr val="37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362456"/>
            <a:ext cx="44805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73D5D"/>
                </a:solidFill>
                <a:latin typeface="Aptos"/>
              </a:rPr>
              <a:t>BankEase SRS Baseline Approved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801368"/>
            <a:ext cx="4480560" cy="1207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Software Requirements Specification verified for 3rd-Year B.Tech Computer Science &amp; Engineering project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474720"/>
            <a:ext cx="2103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73D5D"/>
                </a:solidFill>
                <a:latin typeface="Aptos"/>
              </a:rPr>
              <a:t>PROJECT 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767328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F3D"/>
                </a:solidFill>
                <a:latin typeface="Aptos"/>
              </a:rPr>
              <a:t>Signature: ____________    Date: 30-Sep-2026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24528"/>
            <a:ext cx="2103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73D5D"/>
                </a:solidFill>
                <a:latin typeface="Aptos"/>
              </a:rPr>
              <a:t>INTERNAL EXAMINER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17136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F3D"/>
                </a:solidFill>
                <a:latin typeface="Aptos"/>
              </a:rPr>
              <a:t>Signature: ____________    Date: 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974336"/>
            <a:ext cx="2103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73D5D"/>
                </a:solidFill>
                <a:latin typeface="Aptos"/>
              </a:rPr>
              <a:t>HEAD OF DEPT (HOD)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266944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F3D"/>
                </a:solidFill>
                <a:latin typeface="Aptos"/>
              </a:rPr>
              <a:t>Signature: ____________    Date: 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8348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1887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73D5D"/>
                </a:solidFill>
                <a:latin typeface="Aptos"/>
              </a:rPr>
              <a:t>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93208"/>
            <a:ext cx="36576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>
                <a:solidFill>
                  <a:srgbClr val="232F3D"/>
                </a:solidFill>
                <a:latin typeface="Aptos"/>
              </a:rPr>
              <a:t>BankEase delivers centralized personal banking workflows with secure authentication, transactional consistency, role-based administration and auditable database-backed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0819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47382"/>
                </a:solidFill>
                <a:latin typeface="Aptos"/>
              </a:rPr>
              <a:t>Image Sources: dribbble.com (Banking UI reference)  •  toshiba-clip.com (quantum-secure future reference)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47382"/>
                </a:solidFill>
                <a:latin typeface="Aptos"/>
              </a:rPr>
              <a:t>BankEase  |  3rd Year B.Tech Project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