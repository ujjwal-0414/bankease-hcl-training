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JetBrains Mono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990a3967-499e-42aa-94ac-a384fec39277.fntdata" /><ns0:Relationship Id="rIdFont21" Type="http://schemas.openxmlformats.org/officeDocument/2006/relationships/font" Target="fonts/abb4706a-9fee-4f09-8ccb-bc7db0170636.fntdata" /><ns0:Relationship Id="rIdFont22" Type="http://schemas.openxmlformats.org/officeDocument/2006/relationships/font" Target="fonts/f585c4d8-147a-4983-b30d-0a76477fd49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29756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26989"/>
            <a:ext cx="3524250" cy="285750"/>
          </a:xfrm>
          <a:prstGeom prst="roundRect">
            <a:avLst>
              <a:gd name="adj" fmla="val 2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103239"/>
            <a:ext cx="9101137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BankEase – NextGen Net Banking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345060"/>
            <a:ext cx="733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Full-Stack Academic Net-Banking Simulation Platform Built with Angular, Spring Boot REST Architecture, and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684139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IEEE STD 830-1998 ACADEMIC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150" y="1684139"/>
            <a:ext cx="1762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|   B.Tech Final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11885"/>
            <a:ext cx="2095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SUBMITTED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821435"/>
            <a:ext cx="209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Ujjwal Upadhyay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059560"/>
            <a:ext cx="2095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Roll No: 2400320101205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9993" y="4630935"/>
            <a:ext cx="4012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9993" y="4840485"/>
            <a:ext cx="4012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200" i="0" u="none">
                <a:solidFill>
                  <a:srgbClr val="F8FAFC"/>
                </a:solidFill>
                <a:latin typeface="Plus Jakarta Sans"/>
              </a:rPr>
              <a:t>Dept.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9993" y="5059560"/>
            <a:ext cx="4012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4A3B8"/>
                </a:solidFill>
                <a:latin typeface="Plus Jakarta Sans"/>
              </a:rPr>
              <a:t>ABES Engineering College, Ghaziabad (2026–2027)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73460"/>
            <a:ext cx="52959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6485"/>
            <a:ext cx="52959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59510"/>
            <a:ext cx="5295900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73460"/>
            <a:ext cx="38100" cy="11525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16485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59510"/>
            <a:ext cx="38100" cy="1152525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461045"/>
            <a:ext cx="5295900" cy="486355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61045"/>
            <a:ext cx="5295900" cy="48635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SCOPE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Purpose &amp;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202060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Centralized Banking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497335"/>
            <a:ext cx="4895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Provides authenticated customers with core personal banking workflows through secure APIs and responsive UI.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45085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In-Scope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40360"/>
            <a:ext cx="4895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JWT authentication, savings/current accounts, IMPS/NEFT/RTGS transfers, bill payments, loan processing, and investment catalogs.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88110"/>
            <a:ext cx="63007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Explicit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83385"/>
            <a:ext cx="4895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Self-contained database simulation. Excludes live payment gateway settlement, ATM processing, or external core-banking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0679"/>
            <a:ext cx="3505200" cy="2624137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80679"/>
            <a:ext cx="3505200" cy="2624137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80679"/>
            <a:ext cx="3505200" cy="2624137"/>
          </a:xfrm>
          <a:prstGeom prst="roundRect">
            <a:avLst>
              <a:gd name="adj" fmla="val 58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5004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89500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895004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" y="3028354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028354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3028354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ARCHITECTURE &amp; 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Multi-Tier Stack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04604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PRESENTATION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28454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Angular 20.3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247554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Standalone component architecture with TypeScript ~5.8, RxJS streams, route guards, and HTTP interceptors.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504604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APPLICATION API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828454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Spring Boot 4.1.0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4247554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Java 21 REST API backend with Controller-Service-Repository pattern, DTO mappers, and Spring Security.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504604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PERSISTENCE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3828454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MySQL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4247554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Spring Data JPA / Hibernate persistence layer managing relational schemas, BCrypt hashing, and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7373"/>
            <a:ext cx="3505200" cy="2190750"/>
          </a:xfrm>
          <a:prstGeom prst="roundRect">
            <a:avLst>
              <a:gd name="adj" fmla="val 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97373"/>
            <a:ext cx="3505200" cy="2190750"/>
          </a:xfrm>
          <a:prstGeom prst="roundRect">
            <a:avLst>
              <a:gd name="adj" fmla="val 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97373"/>
            <a:ext cx="3505200" cy="2190750"/>
          </a:xfrm>
          <a:prstGeom prst="roundRect">
            <a:avLst>
              <a:gd name="adj" fmla="val 60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06935"/>
            <a:ext cx="219075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06935"/>
            <a:ext cx="219075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06935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ROLE-BASED ACCESS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User Personas &amp; Hierarchy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426023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High technical proficiency.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426023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Intermediate proficiency.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426023"/>
            <a:ext cx="3690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Basic proficiency.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073598"/>
            <a:ext cx="16502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Administrator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740348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275" y="3759398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Review user directory 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399752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4016573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Update customer KYC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" y="4254698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4273748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Enable or disable user accounts.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451187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4530923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Approve loans &amp; set interest.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3950" y="3073598"/>
            <a:ext cx="253781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Registered 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4875" y="3740348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075" y="3759398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Create savings/current accounts.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4875" y="399752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075" y="4016573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Manage active beneficiaries.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4875" y="4254698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91075" y="4273748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Execute transfers &amp; pay bills.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4875" y="451187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075" y="4530923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Apply for loans &amp; investments.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01075" y="3073598"/>
            <a:ext cx="172521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Guest / Visitor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8675" y="3740348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4875" y="3759398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Access public registration.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8675" y="399752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4875" y="4016573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Authenticate via login API.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8675" y="4254698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4875" y="4273748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Browse public investment products.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8675" y="4511873"/>
            <a:ext cx="762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4875" y="4530923"/>
            <a:ext cx="3476625" cy="1809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Restricted from banking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25973"/>
            <a:ext cx="26289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025973"/>
            <a:ext cx="26289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25973"/>
            <a:ext cx="26289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025973"/>
            <a:ext cx="2628900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SECURITY &amp; SESSION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Module 1: Authentication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64098"/>
            <a:ext cx="26908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11773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BCrypt Hashing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07048"/>
            <a:ext cx="2247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Validates unique email and 10-digit mobile pattern before encoding password.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9025" y="3264098"/>
            <a:ext cx="26908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9025" y="3711773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JWT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4007048"/>
            <a:ext cx="2247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Issues signed HS256 Bearer JWT upon Spring Security authentication.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64098"/>
            <a:ext cx="26908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711773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Route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4007048"/>
            <a:ext cx="2247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Restricts administrative endpoints (/api/admin/**) strictly to ADMIN roles.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1625" y="3264098"/>
            <a:ext cx="269081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1625" y="3711773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1625" y="4007048"/>
            <a:ext cx="2247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Persists success and failure events into AuditLog with global exception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864298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5073848"/>
            <a:ext cx="133350" cy="1333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349698"/>
          <a:ext cx="10972799" cy="22860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68537"/>
                <a:gridCol w="4306937"/>
                <a:gridCol w="479732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Transfer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Transaction Limits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Prerequisite Rules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IMPS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Capped at ₹5,00,000 per transaction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Active source account with sufficient balance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NEFT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Standard clearance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Active beneficiary with verified IFSC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RTGS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Requires minimum ₹2,00,000 threshold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High-value real-time transfer validation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Daily 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Max ₹2,00,000 cumulative transfer limit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Customer KYC status must be VERIFIED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2: BANKING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Fund Transfer Modes &amp;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5045273"/>
            <a:ext cx="11344275" cy="17145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Plus Jakarta Sans"/>
              </a:rPr>
              <a:t>Validation Enforcement: Non-verified KYC users or accounts with insufficient balances are automatically rejected by business validation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Transactional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59088" y="2716410"/>
            <a:ext cx="3673822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b="1" sz="8400" i="0" u="none">
                <a:solidFill>
                  <a:srgbClr val="2563EB"/>
                </a:solidFill>
                <a:latin typeface="Plus Jakarta Sans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90875" y="3935610"/>
            <a:ext cx="58102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Atomic Balance Update &amp; Rollback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5062" y="4278510"/>
            <a:ext cx="73818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All money-moving fund transfers, bill payments, and investment redemptions run inside transactional boundaries with automatic exception rollbacks.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61045"/>
            <a:ext cx="5334000" cy="4863554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61045"/>
            <a:ext cx="5334000" cy="4863554"/>
          </a:xfrm>
          <a:prstGeom prst="roundRect">
            <a:avLst>
              <a:gd name="adj" fmla="val 31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7537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77537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1880145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1880145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3: WEALTH &amp; CREDIT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Loans &amp; Investment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9225" y="1832520"/>
            <a:ext cx="311288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Loan Processing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308770"/>
            <a:ext cx="7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2308770"/>
            <a:ext cx="5667375" cy="2000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Loan Categories: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Personal, Home, Education, and Vehicle loans.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2623095"/>
            <a:ext cx="7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2623095"/>
            <a:ext cx="4629150" cy="4000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Application Rules: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Minimum ₹10,000 threshold; tenure spanning 6–360 months.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3137445"/>
            <a:ext cx="7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3137445"/>
            <a:ext cx="4629150" cy="4000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Admin Approval: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Assigns interest rate and triggers backend EMI calculation.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1832520"/>
            <a:ext cx="271283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Investment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2308770"/>
            <a:ext cx="7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2308770"/>
            <a:ext cx="4629150" cy="4000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Product Catalog: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Publicly viewable Fixed Deposits, Mutual Funds, and Bonds.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7975" y="2823120"/>
            <a:ext cx="7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175" y="2823120"/>
            <a:ext cx="4629150" cy="4000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Purchase Rule: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Validates minimum investment, active status, and account balance.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7975" y="3337470"/>
            <a:ext cx="7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175" y="3337470"/>
            <a:ext cx="4629150" cy="4000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334155"/>
                </a:solidFill>
                <a:latin typeface="Plus Jakarta Sans"/>
              </a:rPr>
              <a:t>Redemption:</a:t>
            </a:r>
            <a:r>
              <a:rPr b="0" sz="1125" i="0" u="none">
                <a:solidFill>
                  <a:srgbClr val="334155"/>
                </a:solidFill>
                <a:latin typeface="Plus Jakarta Sans"/>
              </a:rPr>
              <a:t> Credits current value directly back to the original funding account.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5023"/>
            <a:ext cx="35052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45023"/>
            <a:ext cx="35052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5023"/>
            <a:ext cx="3505200" cy="1695450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330773"/>
            <a:ext cx="542925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3330773"/>
            <a:ext cx="561975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3330773"/>
            <a:ext cx="561975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ADMINISTRATION &amp;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Admin Control &amp; KYC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368873"/>
            <a:ext cx="447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54623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KYC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49898"/>
            <a:ext cx="304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Reviews registered customer profiles and updates status between PENDING, VERIFIED, or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875" y="3368873"/>
            <a:ext cx="466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654623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User Toggle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49898"/>
            <a:ext cx="3048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Enables or disables user account access instantly via administrative REST endpoints.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8675" y="3368873"/>
            <a:ext cx="466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54623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Loan Decisioning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49898"/>
            <a:ext cx="3048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Inspects pending loan queue, sets approved interest rate, or issues rejection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81510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167235"/>
            <a:ext cx="539115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94336"/>
            <a:ext cx="5391150" cy="923925"/>
          </a:xfrm>
          <a:prstGeom prst="roundRect">
            <a:avLst>
              <a:gd name="adj" fmla="val 123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608611"/>
            <a:ext cx="539115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357735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44346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970561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884836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QUALITY METRICS &amp; NFRs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Non-Functional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319635"/>
            <a:ext cx="6450806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Security &amp; 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95860"/>
            <a:ext cx="5010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BCrypt password encoding, stateless Bearer JWT, and strict RBAC authorization guards.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405360"/>
            <a:ext cx="576262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Reliability &amp;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2681585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Transactional database rollback boundaries with persistent event audit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932461"/>
            <a:ext cx="6450806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Maintainability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208686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Decoupled Controller-Service-Repository architecture using DTO mappers.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846736"/>
            <a:ext cx="5762625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Usability &amp; Portability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5122961"/>
            <a:ext cx="5010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Responsive Angular SPA interfaces running on standard browsers with Java 21 / MySQL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76975" y="1854398"/>
            <a:ext cx="530542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76975" y="2816423"/>
            <a:ext cx="530542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76975" y="3949898"/>
            <a:ext cx="530542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76975" y="5083373"/>
            <a:ext cx="530542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22945"/>
            <a:ext cx="5324475" cy="49016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432470"/>
            <a:ext cx="5305425" cy="48826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SYSTEM ANALYSIS &amp; DIAGRAMS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11582400" cy="3942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UML Graphical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054423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Use Case Diagram (Figure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292548"/>
            <a:ext cx="571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Maps Guest, Customer, and Administrator actors to core platform workflows.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016448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Context Diagram (Figure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254573"/>
            <a:ext cx="5000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Illustrates Level-0 Angular client REST communication with Spring Boot and MySQL.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149923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Entity-Relationship Model (Figure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388048"/>
            <a:ext cx="500062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Crow's Foot model defining User, Role, BankAccount, Beneficiary, Transfer, and AuditLog.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5283398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Sequence Diagram (Figure 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5521523"/>
            <a:ext cx="571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Chronological flow for fund transfer execution from UI through API to 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49998" y="1891605"/>
            <a:ext cx="2691854" cy="285750"/>
          </a:xfrm>
          <a:prstGeom prst="roundRect">
            <a:avLst>
              <a:gd name="adj" fmla="val 20000"/>
            </a:avLst>
          </a:prstGeom>
          <a:solidFill>
            <a:srgbClr val="15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09750" y="3994695"/>
            <a:ext cx="2654349" cy="971550"/>
          </a:xfrm>
          <a:prstGeom prst="roundRect">
            <a:avLst>
              <a:gd name="adj" fmla="val 980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8899" y="3994695"/>
            <a:ext cx="2654349" cy="971550"/>
          </a:xfrm>
          <a:prstGeom prst="roundRect">
            <a:avLst>
              <a:gd name="adj" fmla="val 980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28049" y="3994695"/>
            <a:ext cx="2654349" cy="971550"/>
          </a:xfrm>
          <a:prstGeom prst="roundRect">
            <a:avLst>
              <a:gd name="adj" fmla="val 980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6866" y="1948755"/>
            <a:ext cx="309811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ACADEMIC REVIEW &amp;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9186" y="2367855"/>
            <a:ext cx="9013626" cy="5028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BankEase SRS Baseline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875" y="3023145"/>
            <a:ext cx="8096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Software Requirements Specification verified for 3rd-Year B.Tech Computer Science &amp; Engineering project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4194720"/>
            <a:ext cx="272262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PROJECT COORDINATOR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875" y="4413795"/>
            <a:ext cx="2722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Signature: 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7875" y="4623345"/>
            <a:ext cx="272262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Date: 30-Sep-2026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7024" y="4194720"/>
            <a:ext cx="272262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INTERNAL EXAMINER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7024" y="4413795"/>
            <a:ext cx="2722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Signature: 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7024" y="4623345"/>
            <a:ext cx="272262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Date: 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6174" y="4194720"/>
            <a:ext cx="272262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HEAD OF DEPT (HOD)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6174" y="4413795"/>
            <a:ext cx="2722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Signature: 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6174" y="4623345"/>
            <a:ext cx="272262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Date: ____________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948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https://cdn.dribbble.com/userupload/44735659/file/a7fbae61b9fddeb20c8c897c9b7519b5.jpg?resize=752x&amp;vertical=center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012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dribbble.com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https://www.toshiba-clip.com/en/wp-content/uploads/sites/2/2023/04/img_1_Main_Image_Clip_article-Building_a_quantum-secure_future.jpg.jpeg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www.toshiba-clip.com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